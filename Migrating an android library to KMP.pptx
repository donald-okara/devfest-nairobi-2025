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 Mono Light"/>
      <p:regular r:id="rId26"/>
      <p:bold r:id="rId27"/>
      <p:italic r:id="rId28"/>
      <p:boldItalic r:id="rId29"/>
    </p:embeddedFont>
    <p:embeddedFont>
      <p:font typeface="Google Sans"/>
      <p:regular r:id="rId30"/>
      <p:bold r:id="rId31"/>
      <p:italic r:id="rId32"/>
      <p:boldItalic r:id="rId33"/>
    </p:embeddedFont>
    <p:embeddedFont>
      <p:font typeface="Roboto Mono Thin"/>
      <p:regular r:id="rId34"/>
      <p:bold r:id="rId35"/>
      <p:italic r:id="rId36"/>
      <p:boldItalic r:id="rId37"/>
    </p:embeddedFont>
    <p:embeddedFont>
      <p:font typeface="Roboto Mono ExtraLigh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809">
          <p15:clr>
            <a:srgbClr val="747775"/>
          </p15:clr>
        </p15:guide>
        <p15:guide id="4" pos="5499">
          <p15:clr>
            <a:srgbClr val="747775"/>
          </p15:clr>
        </p15:guide>
        <p15:guide id="5" pos="233">
          <p15:clr>
            <a:srgbClr val="747775"/>
          </p15:clr>
        </p15:guide>
        <p15:guide id="6" orient="horz" pos="765">
          <p15:clr>
            <a:srgbClr val="747775"/>
          </p15:clr>
        </p15:guide>
        <p15:guide id="7" orient="horz" pos="861">
          <p15:clr>
            <a:srgbClr val="747775"/>
          </p15:clr>
        </p15:guide>
        <p15:guide id="8" orient="horz" pos="95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809" orient="horz"/>
        <p:guide pos="5499"/>
        <p:guide pos="233"/>
        <p:guide pos="765" orient="horz"/>
        <p:guide pos="861" orient="horz"/>
        <p:guide pos="95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ExtraLight-italic.fntdata"/><Relationship Id="rId20" Type="http://schemas.openxmlformats.org/officeDocument/2006/relationships/slide" Target="slides/slide15.xml"/><Relationship Id="rId41" Type="http://schemas.openxmlformats.org/officeDocument/2006/relationships/font" Target="fonts/RobotoMonoExtraLight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Light-regular.fntdata"/><Relationship Id="rId25" Type="http://schemas.openxmlformats.org/officeDocument/2006/relationships/slide" Target="slides/slide20.xml"/><Relationship Id="rId28" Type="http://schemas.openxmlformats.org/officeDocument/2006/relationships/font" Target="fonts/RobotoMonoLight-italic.fntdata"/><Relationship Id="rId27" Type="http://schemas.openxmlformats.org/officeDocument/2006/relationships/font" Target="fonts/RobotoMono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oogleSans-bold.fntdata"/><Relationship Id="rId30" Type="http://schemas.openxmlformats.org/officeDocument/2006/relationships/font" Target="fonts/GoogleSans-regular.fntdata"/><Relationship Id="rId11" Type="http://schemas.openxmlformats.org/officeDocument/2006/relationships/slide" Target="slides/slide6.xml"/><Relationship Id="rId33" Type="http://schemas.openxmlformats.org/officeDocument/2006/relationships/font" Target="fonts/GoogleSans-boldItalic.fntdata"/><Relationship Id="rId10" Type="http://schemas.openxmlformats.org/officeDocument/2006/relationships/slide" Target="slides/slide5.xml"/><Relationship Id="rId32" Type="http://schemas.openxmlformats.org/officeDocument/2006/relationships/font" Target="fonts/GoogleSans-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Thin-bold.fntdata"/><Relationship Id="rId12" Type="http://schemas.openxmlformats.org/officeDocument/2006/relationships/slide" Target="slides/slide7.xml"/><Relationship Id="rId34" Type="http://schemas.openxmlformats.org/officeDocument/2006/relationships/font" Target="fonts/RobotoMonoThin-regular.fntdata"/><Relationship Id="rId15" Type="http://schemas.openxmlformats.org/officeDocument/2006/relationships/slide" Target="slides/slide10.xml"/><Relationship Id="rId37" Type="http://schemas.openxmlformats.org/officeDocument/2006/relationships/font" Target="fonts/RobotoMonoThin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Thin-italic.fntdata"/><Relationship Id="rId17" Type="http://schemas.openxmlformats.org/officeDocument/2006/relationships/slide" Target="slides/slide12.xml"/><Relationship Id="rId39" Type="http://schemas.openxmlformats.org/officeDocument/2006/relationships/font" Target="fonts/RobotoMonoExtraLight-bold.fntdata"/><Relationship Id="rId16" Type="http://schemas.openxmlformats.org/officeDocument/2006/relationships/slide" Target="slides/slide11.xml"/><Relationship Id="rId38" Type="http://schemas.openxmlformats.org/officeDocument/2006/relationships/font" Target="fonts/RobotoMonoExtraLigh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5b4bbb7f4c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" name="Google Shape;15;g35b4bbb7f4c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5a5db83d97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Google Shape;23;g35a5db83d97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5a5db83d97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5a5db83d97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5a5db83d97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35a5db83d97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5a5db83d97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5a5db83d97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5a5db83d97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5a5db83d97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e21ad4a0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e21ad4a0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e21ad4a0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e21ad4a0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e21ad4a0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e21ad4a0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e21ad4a0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e21ad4a0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e21ad4a0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e21ad4a0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e21ad4a0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e21ad4a0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e21ad4a0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e21ad4a0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fc3e78840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fc3e78840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e21ad4a0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e21ad4a0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e21ad4a0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e21ad4a0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efc3e78840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efc3e78840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fc3e78840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efc3e78840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fc3e78840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fc3e78840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e21ad4a0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e21ad4a0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Logo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0F0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b="1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●"/>
              <a:defRPr sz="2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○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■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●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○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■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●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○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■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 Center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" name="Google Shape;18;p4"/>
          <p:cNvSpPr txBox="1"/>
          <p:nvPr/>
        </p:nvSpPr>
        <p:spPr>
          <a:xfrm>
            <a:off x="812542" y="3741563"/>
            <a:ext cx="4294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Donald</a:t>
            </a: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Okara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Android Engineer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9" name="Google Shape;19;p4"/>
          <p:cNvSpPr txBox="1"/>
          <p:nvPr/>
        </p:nvSpPr>
        <p:spPr>
          <a:xfrm>
            <a:off x="794394" y="1947700"/>
            <a:ext cx="74457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Migrating android Libraries to Kotlin Multiplatform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6648180" y="481468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1E1E1E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2025</a:t>
            </a:r>
            <a:endParaRPr sz="4500">
              <a:solidFill>
                <a:srgbClr val="1E1E1E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01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26" name="Google Shape;26;p5"/>
          <p:cNvSpPr txBox="1"/>
          <p:nvPr/>
        </p:nvSpPr>
        <p:spPr>
          <a:xfrm>
            <a:off x="3267106" y="781192"/>
            <a:ext cx="52110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Why migrate?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" name="Google Shape;27;p5"/>
          <p:cNvSpPr txBox="1"/>
          <p:nvPr/>
        </p:nvSpPr>
        <p:spPr>
          <a:xfrm>
            <a:off x="3267100" y="2295157"/>
            <a:ext cx="28560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Why is Kotlin Multiplatform the </a:t>
            </a: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next</a:t>
            </a: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best move for you app?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02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33" name="Google Shape;33;p6"/>
          <p:cNvSpPr txBox="1"/>
          <p:nvPr/>
        </p:nvSpPr>
        <p:spPr>
          <a:xfrm>
            <a:off x="3267106" y="781192"/>
            <a:ext cx="52110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Anatomy of a Kotlin Multiplatform library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03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39" name="Google Shape;39;p7"/>
          <p:cNvSpPr txBox="1"/>
          <p:nvPr/>
        </p:nvSpPr>
        <p:spPr>
          <a:xfrm>
            <a:off x="3267099" y="781200"/>
            <a:ext cx="46623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Project Repo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0" name="Google Shape;40;p7" title="adobe-express-qr-c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1375" y="1780050"/>
            <a:ext cx="2345150" cy="23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04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46" name="Google Shape;46;p8"/>
          <p:cNvSpPr txBox="1"/>
          <p:nvPr/>
        </p:nvSpPr>
        <p:spPr>
          <a:xfrm>
            <a:off x="3267100" y="3292632"/>
            <a:ext cx="28560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These are the plugins required for KMP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47" name="Google Shape;4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7100" y="1518800"/>
            <a:ext cx="5118437" cy="16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05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53" name="Google Shape;53;p9"/>
          <p:cNvSpPr txBox="1"/>
          <p:nvPr/>
        </p:nvSpPr>
        <p:spPr>
          <a:xfrm>
            <a:off x="3267100" y="3856634"/>
            <a:ext cx="28560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Set up configuration options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54" name="Google Shape;5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3612" y="1067800"/>
            <a:ext cx="4752975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06.a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60" name="Google Shape;60;p10"/>
          <p:cNvSpPr txBox="1"/>
          <p:nvPr/>
        </p:nvSpPr>
        <p:spPr>
          <a:xfrm>
            <a:off x="3267100" y="3856634"/>
            <a:ext cx="28560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Apply plugins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7100" y="908672"/>
            <a:ext cx="4626640" cy="256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06.b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3267100" y="3856634"/>
            <a:ext cx="28560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Apply plugins for application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68" name="Google Shape;6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0599" y="675851"/>
            <a:ext cx="5540675" cy="20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07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74" name="Google Shape;74;p12"/>
          <p:cNvSpPr txBox="1"/>
          <p:nvPr/>
        </p:nvSpPr>
        <p:spPr>
          <a:xfrm>
            <a:off x="3267100" y="3856634"/>
            <a:ext cx="28560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Apply plugins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75" name="Google Shape;7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7112" y="666825"/>
            <a:ext cx="4076700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/>
        </p:nvSpPr>
        <p:spPr>
          <a:xfrm>
            <a:off x="311700" y="555600"/>
            <a:ext cx="4312800" cy="29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</a:t>
            </a:r>
            <a:r>
              <a:rPr b="1" lang="en" sz="29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kotlin </a:t>
            </a:r>
            <a:r>
              <a:rPr lang="en" sz="29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block holds the target platforms and dependencies for each</a:t>
            </a:r>
            <a:endParaRPr sz="29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1" name="Google Shape;81;p13"/>
          <p:cNvPicPr preferRelativeResize="0"/>
          <p:nvPr/>
        </p:nvPicPr>
        <p:blipFill rotWithShape="1">
          <a:blip r:embed="rId3">
            <a:alphaModFix/>
          </a:blip>
          <a:srcRect b="0" l="0" r="25512" t="0"/>
          <a:stretch/>
        </p:blipFill>
        <p:spPr>
          <a:xfrm>
            <a:off x="5057475" y="829300"/>
            <a:ext cx="3445750" cy="3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311700" y="555600"/>
            <a:ext cx="4312800" cy="29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These are the platforms our library will target</a:t>
            </a:r>
            <a:endParaRPr sz="29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5275" y="152400"/>
            <a:ext cx="276624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/>
        </p:nvSpPr>
        <p:spPr>
          <a:xfrm>
            <a:off x="279750" y="2996050"/>
            <a:ext cx="85845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SourceSets </a:t>
            </a:r>
            <a:r>
              <a:rPr lang="en" sz="29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are the dependencies our target platforms will use</a:t>
            </a:r>
            <a:endParaRPr sz="29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93" name="Google Shape;9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625" y="298000"/>
            <a:ext cx="5956425" cy="29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/>
        </p:nvSpPr>
        <p:spPr>
          <a:xfrm>
            <a:off x="279750" y="2996050"/>
            <a:ext cx="85845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Once gradle builds, move code to commonMain</a:t>
            </a:r>
            <a:endParaRPr sz="29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65924" cy="313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3724875" y="1366400"/>
            <a:ext cx="4466700" cy="15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What goes and what stays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 Center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8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848075" y="772785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Stays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KMP compatible dependencies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android{} configuration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9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848075" y="772785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Goes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dependencies{} block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Dependencies and plugins not compatible with KMP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/>
        </p:nvSpPr>
        <p:spPr>
          <a:xfrm>
            <a:off x="3724875" y="1518802"/>
            <a:ext cx="4682100" cy="15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Migration do’s and dont’s</a:t>
            </a:r>
            <a:endParaRPr b="1" sz="37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Editable Location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/>
        </p:nvSpPr>
        <p:spPr>
          <a:xfrm>
            <a:off x="3480950" y="640775"/>
            <a:ext cx="5434200" cy="3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Do’s</a:t>
            </a:r>
            <a:endParaRPr b="1" sz="3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Font typeface="Google Sans"/>
              <a:buChar char="●"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Migrate business logic first</a:t>
            </a:r>
            <a:b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Font typeface="Google Sans"/>
              <a:buChar char="●"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Use expect/actual early for platform-specific APIs</a:t>
            </a:r>
            <a:b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Font typeface="Google Sans"/>
              <a:buChar char="●"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Keep your Gradle modular — clarity over cleverness</a:t>
            </a:r>
            <a:b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Font typeface="Google Sans"/>
              <a:buChar char="●"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Test shared code via common tests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3704182" y="2975674"/>
            <a:ext cx="36294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Editable Location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/>
        </p:nvSpPr>
        <p:spPr>
          <a:xfrm>
            <a:off x="3446324" y="812250"/>
            <a:ext cx="5064000" cy="29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Dont’s</a:t>
            </a:r>
            <a:endParaRPr b="1" sz="3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Font typeface="Google Sans"/>
              <a:buChar char="●"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Don’t move UI too early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Font typeface="Google Sans"/>
              <a:buChar char="●"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Don’t mix platform code in shared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Font typeface="Google Sans"/>
              <a:buChar char="●"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Don’t hardcode Android references in commonMain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Font typeface="Google Sans"/>
              <a:buChar char="●"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Don’t skip source set separation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Font typeface="Google Sans"/>
              <a:buChar char="●"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Don’t migrate all at once — ship small</a:t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Editable Location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/>
        </p:nvSpPr>
        <p:spPr>
          <a:xfrm>
            <a:off x="5247425" y="1929375"/>
            <a:ext cx="1575900" cy="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Q&amp;A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 Center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vFest 2025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EA4335"/>
      </a:accent2>
      <a:accent3>
        <a:srgbClr val="FBBC04"/>
      </a:accent3>
      <a:accent4>
        <a:srgbClr val="34A853"/>
      </a:accent4>
      <a:accent5>
        <a:srgbClr val="009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